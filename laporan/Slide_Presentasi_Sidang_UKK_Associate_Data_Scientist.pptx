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32720" cy="411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38BDF8"/>
                </a:solidFill>
                <a:latin typeface="Arial"/>
              </a:rPr>
              <a:t>🏛️ SKEMA SERTIFIKASI OKUPASI: ASSOCIATE DATA SCIENTIST • SKKNI NO. 299 TAHUN 2020 • NO. SKEMA: SSK22/BPPMPVKPTK/KKRPL/2022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>
                <a:solidFill>
                  <a:srgbClr val="F8FAFC"/>
                </a:solidFill>
                <a:latin typeface="Arial"/>
              </a:rPr>
              <a:t>World Demographic Clustering Intelligence</a:t>
            </a:r>
          </a:p>
          <a:p>
            <a:pPr algn="ctr"/>
            <a:r>
              <a:rPr sz="1500" b="0">
                <a:solidFill>
                  <a:srgbClr val="60A5FA"/>
                </a:solidFill>
                <a:latin typeface="Arial"/>
              </a:rPr>
              <a:t>Segmentasi Cerdas 234 Negara &amp; Teritori Dunia Menggunakan Algoritma K-Means Clustering
Berbasis 4 Pilar Demografi: Populasi 2022, Luas Wilayah, Kepadatan, dan Laju Pertumbuhan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840480"/>
            <a:ext cx="9418320" cy="228600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02336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4A3B8"/>
                </a:solidFill>
                <a:latin typeface="Arial"/>
              </a:rPr>
              <a:t>👨‍💻 Peneliti Utama &amp; Asesi: </a:t>
            </a:r>
            <a:r>
              <a:rPr sz="1600" b="1">
                <a:solidFill>
                  <a:srgbClr val="FBBF24"/>
                </a:solidFill>
                <a:latin typeface="Arial"/>
              </a:rPr>
              <a:t>Muhammad Iqbal Adenan
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8FAFC"/>
                </a:solidFill>
                <a:latin typeface="Arial"/>
              </a:rPr>
              <a:t>📋 Skema Okupasi: Associate Data Scientist (KKNI Level 5) | Pemenuhan Penuh 9 Unit Kompetensi Inti
</a:t>
            </a:r>
          </a:p>
          <a:p>
            <a:r>
              <a:rPr sz="1100" b="0">
                <a:solidFill>
                  <a:srgbClr val="38BDF8"/>
                </a:solidFill>
                <a:latin typeface="Arial"/>
              </a:rPr>
              <a:t>🌐 Repositori GitHub: https://github.com/10040818/associate_data_scientist_world_demographic_clustering
</a:t>
            </a:r>
          </a:p>
          <a:p>
            <a:r>
              <a:rPr sz="1100" b="1">
                <a:solidFill>
                  <a:srgbClr val="34D399"/>
                </a:solidFill>
                <a:latin typeface="Arial"/>
              </a:rPr>
              <a:t>🚀 Live Interactive Web Dashboard: https://10040818.github.io/ukk/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SKEMA SERTIFIKASI ASSOCIATE DATA SCIENTIST • SKKNI NO. 299 TAHUN 2020</a:t>
            </a:r>
          </a:p>
          <a:p>
            <a:r>
              <a:rPr sz="2200" b="1">
                <a:solidFill>
                  <a:srgbClr val="F8FAFC"/>
                </a:solidFill>
                <a:latin typeface="Arial"/>
              </a:rPr>
              <a:t>Latar Belakang &amp; Urgensi Segmentasi Demografi Global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29260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Arial"/>
              </a:rPr>
              <a:t>🌍 Kompleksitas 8 Miliar Jiwa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0">
                <a:solidFill>
                  <a:srgbClr val="94A3B8"/>
                </a:solidFill>
                <a:latin typeface="Arial"/>
              </a:rPr>
              <a:t>• Populasi bumi tahun 2022 mencapai 7.975 miliar jiwa yang tersebar di 234 negara dan teritori berdaulat.
• Ketimpangan ekstrem: China &amp; India masing-masing &gt;1.4 miliar jiwa, sementara Vatikan hanya 510 jiwa (rentang 2.8 juta kali lipat).
• Kebijakan global yang digeneralisasi (one-size-fits-all) terbukti tidak efektif mengatasi isu pangan, iklim, dan urbanisasi.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36192"/>
            <a:ext cx="29260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Arial"/>
              </a:rPr>
              <a:t>🤖 Mengapa Unsupervised ML?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0">
                <a:solidFill>
                  <a:srgbClr val="94A3B8"/>
                </a:solidFill>
                <a:latin typeface="Arial"/>
              </a:rPr>
              <a:t>• Tanpa Label Target: Tidak ada pengelompokan baku yang adil. Algoritma harus menemukan pola intrinsik secara objektif.
• Menembus Batas Geografis: Segmentasi demografi murni membuktikan negara beda benua bisa memiliki kemiripan struktur hunian.
• Menghindari Subjektivitas: Menggantikan klasifikasi manual berbasis politik dengan klasterisasi kuantitatif matematis.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36192"/>
            <a:ext cx="30175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Arial"/>
              </a:rPr>
              <a:t>📊 Tantangan Sains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0">
                <a:solidFill>
                  <a:srgbClr val="94A3B8"/>
                </a:solidFill>
                <a:latin typeface="Arial"/>
              </a:rPr>
              <a:t>• Skewness Ekstrim: Data mentah memiliki koefisien kemencengan +9.15 (sangat menceng ke kanan).
• Multikolinearitas Historis: Variabel sensus 1970-2022 berkorelasi linear r &gt;= 0.99 (ancaman bias bobot 73%).
• Zero Data Loss Imperative: Negara raksasa dan negara mikro tidak boleh dihapus sebagai outlier; harus diakomodasi 100% utuh.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SKEMA SERTIFIKASI ASSOCIATE DATA SCIENTIST • SKKNI NO. 299 TAHUN 2020</a:t>
            </a:r>
          </a:p>
          <a:p>
            <a:r>
              <a:rPr sz="2200" b="1">
                <a:solidFill>
                  <a:srgbClr val="F8FAFC"/>
                </a:solidFill>
                <a:latin typeface="Arial"/>
              </a:rPr>
              <a:t>Tujuan Penelitian &amp; Sasaran Operasional 9 Unit SKKNI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64592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03327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Arial"/>
              </a:rPr>
              <a:t>🎯 Tujuan Strategis Utama Penelitian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8FAFC"/>
                </a:solidFill>
                <a:latin typeface="Arial"/>
              </a:rPr>
              <a:t>Membangun sistem segmentasi demografi global yang objektif, kokoh, dan tervalidasi menggunakan algoritma K-Means Clustering berbasis 4 pilar fitur representatif, menghasilkan 4 kuadran profil wilayah dunia untuk mendukung perumusan kebijakan multilateral PBB dan Bank Dunia.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3291840" cy="292608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56432"/>
            <a:ext cx="29260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Arial"/>
              </a:rPr>
              <a:t>1. Standar Kompetensi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94A3B8"/>
                </a:solidFill>
                <a:latin typeface="Arial"/>
              </a:rPr>
              <a:t>Memenuhi 100% kriteria unjuk kerja pada 9 Unit Kompetensi Inti SKKNI No. 299 Tahun 2020 untuk skema Associate Data Scientist.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291840"/>
            <a:ext cx="3291840" cy="292608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456432"/>
            <a:ext cx="29260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Arial"/>
              </a:rPr>
              <a:t>2. Validasi Matematis Ganda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84048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94A3B8"/>
                </a:solidFill>
                <a:latin typeface="Arial"/>
              </a:rPr>
              <a:t>Membuktikan secara ilmiah keunggulan nilai K=4 melalui sintesis Elbow Method (Drop WCSS &gt;60%) dan koefisien Silhouette tertinggi (0.3138).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291840"/>
            <a:ext cx="3383280" cy="292608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456432"/>
            <a:ext cx="30175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Arial"/>
              </a:rPr>
              <a:t>3. Deployment Produksi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84048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94A3B8"/>
                </a:solidFill>
                <a:latin typeface="Arial"/>
              </a:rPr>
              <a:t>Mendeploy model terlatih ke antarmuka web simulator interaktif mandiri (index.html) berbasis GitHub Pages dengan verifikasi input real-time.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SKEMA SERTIFIKASI ASSOCIATE DATA SCIENTIST • SKKNI NO. 299 TAHUN 2020</a:t>
            </a:r>
          </a:p>
          <a:p>
            <a:r>
              <a:rPr sz="2200" b="1">
                <a:solidFill>
                  <a:srgbClr val="F8FAFC"/>
                </a:solidFill>
                <a:latin typeface="Arial"/>
              </a:rPr>
              <a:t>Metodologi CRISP-DM Terintegrasi 9 Unit SKKNI 299-2020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8BDF8"/>
                </a:solidFill>
                <a:latin typeface="Arial"/>
              </a:rPr>
              <a:t>Fase 1: Data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481328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8FAFC"/>
                </a:solidFill>
                <a:latin typeface="Arial"/>
              </a:rPr>
              <a:t>Unit 1: Mengumpulkan Data
Unit 2: Menelaah Data
Unit 3: Memvalidasi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481328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Arial"/>
              </a:rPr>
              <a:t>Identifikasi 234 negara, inspeksi 17 variabel sensus, 5-number summary deskriptif, audit 0 missing values &amp; duplikasi.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10698480" cy="109728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15768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8BDF8"/>
                </a:solidFill>
                <a:latin typeface="Arial"/>
              </a:rPr>
              <a:t>Fase 2: Data Preparation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715768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8FAFC"/>
                </a:solidFill>
                <a:latin typeface="Arial"/>
              </a:rPr>
              <a:t>Unit 4: Menentukan Objek Data
Unit 5: Membersihkan Data
Unit 6: Mengkonstruksi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715768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Arial"/>
              </a:rPr>
              <a:t>Eliminasi multikolinearitas historis, seleksi 4 pilar fitur, Zero Data Loss Policy np.log1p(), dan normalisasi Z-score.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698480" cy="109728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50208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8BDF8"/>
                </a:solidFill>
                <a:latin typeface="Arial"/>
              </a:rPr>
              <a:t>Fase 3: Modeling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950208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8FAFC"/>
                </a:solidFill>
                <a:latin typeface="Arial"/>
              </a:rPr>
              <a:t>Unit 7: Menentukan Label Data
Unit 8: Membangun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950208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Arial"/>
              </a:rPr>
              <a:t>Dual-metric validation (Elbow &amp; Silhouette) penentuan K=4, inisialisasi k-means++, ekstraksi centroid, &amp; serialisasi Joblib.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74920"/>
            <a:ext cx="10698480" cy="109728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84648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8BDF8"/>
                </a:solidFill>
                <a:latin typeface="Arial"/>
              </a:rPr>
              <a:t>Fase 4: Evaluation &amp;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5184648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8FAFC"/>
                </a:solidFill>
                <a:latin typeface="Arial"/>
              </a:rPr>
              <a:t>Unit 9: Mengevaluasi Model
Deployment Web Interaktif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184648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Arial"/>
              </a:rPr>
              <a:t>PCA 2D projection (74.32% variansi), profiling klaster, cross-tab benua, export CSV, &amp; rilis live web simulator.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SKEMA SERTIFIKASI ASSOCIATE DATA SCIENTIST • SKKNI NO. 299 TAHUN 2020</a:t>
            </a:r>
          </a:p>
          <a:p>
            <a:r>
              <a:rPr sz="2200" b="1">
                <a:solidFill>
                  <a:srgbClr val="F8FAFC"/>
                </a:solidFill>
                <a:latin typeface="Arial"/>
              </a:rPr>
              <a:t>Eksplorasi Data &amp; Audit Integritas Mutu (Unit 1, 2, 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7548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Arial"/>
              </a:rPr>
              <a:t>📋 Ringkasan Profil Data &amp; Integritas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94A3B8"/>
                </a:solidFill>
                <a:latin typeface="Arial"/>
              </a:rPr>
              <a:t>• Unit 1 (Mengumpulkan Data):
  - Sumber: Kompilasi data sensus resmi PBB &amp; Bank Dunia.
  - Dimensi: 234 baris negara x 17 atribut demografi.
  - Paradigma: Unsupervised Learning (tanpa label/target).
• Unit 2 (Menelaah Data):
  - Tipe Data: 4 teks/kategorikal (object) + 13 numerik.
  - Rata-rata populasi: 34.07 juta jiwa vs Median: 5.55 juta jiwa.
  - Disparitas Standar Deviasi (136.7M) membuktikan sebaran sangat menceng ke kanan.
• Unit 3 (Memvalidasi Data):
  - Missing Values: 0 di seluruh 17 kolom (100% lengkap).
  - Duplikasi: 0 baris duplikat (setiap negara unik).
  - Angka 0.00% pada 57 negara mikro: Valid matematis karena pembulatan format desimal 2 digit (&lt;400 ribu jiwa).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8463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Arial"/>
              </a:rPr>
              <a:t>🖼️ Gambar 1: Sebaran 4 Fitur Mentah</a:t>
            </a:r>
          </a:p>
        </p:txBody>
      </p:sp>
      <p:pic>
        <p:nvPicPr>
          <p:cNvPr id="9" name="Picture 8" descr="eda_distribusi_sebelum_transforma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54791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SKEMA SERTIFIKASI ASSOCIATE DATA SCIENTIST • SKKNI NO. 299 TAHUN 2020</a:t>
            </a:r>
          </a:p>
          <a:p>
            <a:r>
              <a:rPr sz="2200" b="1">
                <a:solidFill>
                  <a:srgbClr val="F8FAFC"/>
                </a:solidFill>
                <a:latin typeface="Arial"/>
              </a:rPr>
              <a:t>Rekayasa Fitur &amp; Zero Data Loss Policy (Unit 4 &amp; 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7548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Arial"/>
              </a:rPr>
              <a:t>⚙️ Metodologi Rekayasa Fitur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94A3B8"/>
                </a:solidFill>
                <a:latin typeface="Arial"/>
              </a:rPr>
              <a:t>• Eliminasi Multikolinearitas (Unit 4):
  - Korelasi populasi historis (1970-2020 vs 2022) bernilai r &gt;= 0.99.
  - 8 kolom historis dibuang untuk mencegah pembobotan ganda 73% pada dimensi populasi saja.
• Seleksi 4 Pilar Demografi Kunci Berimbang:
  1. '2022 Population': Kuantitas demografi terkini.
  2. 'Area (km²)': Bentang kapasitas fisik daratan.
  3. 'Density (per km²)': Konsentrasi hunian ruang.
  4. 'Growth Rate': Akselerasi laju perubahan tahunan.
• Zero Data Loss Policy via np.log1p (Unit 5):
  - Formula: y = ln(x + 1) meredam rentang ekstrim.
  - Skewness Populasi: turun 93% dari +9.15 ke -0.60.
  - Skewness Luas: turun dari +6.08 ke -0.68.
  - Skewness Kepadatan: turun dari +8.95 ke +0.17.
  - 234 negara dipertahankan 100% utuh tanpa pemotongan!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8463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Arial"/>
              </a:rPr>
              <a:t>🖼️ Gambar 5: Perbandingan Sebelum vs Sesudah</a:t>
            </a:r>
          </a:p>
        </p:txBody>
      </p:sp>
      <p:pic>
        <p:nvPicPr>
          <p:cNvPr id="9" name="Picture 8" descr="perbandingan_sebelum_sesudah_preproce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32453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SKEMA SERTIFIKASI ASSOCIATE DATA SCIENTIST • SKKNI NO. 299 TAHUN 2020</a:t>
            </a:r>
          </a:p>
          <a:p>
            <a:r>
              <a:rPr sz="2200" b="1">
                <a:solidFill>
                  <a:srgbClr val="F8FAFC"/>
                </a:solidFill>
                <a:latin typeface="Arial"/>
              </a:rPr>
              <a:t>Standarisasi Skala Multidimensi Z-Score (Unit 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7548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Arial"/>
              </a:rPr>
              <a:t>📐 Penyetaraan Bobot Jarak Euclidean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rial"/>
              </a:rPr>
              <a:t>• Formula Standardisasi Z-Score:
  z = (x - mu) / sigma
• Alasan Matematis Krusial:
  - Jarak Euclidean K-Means sangat sensitif terhadap skala unit.
  - Tanpa standardisasi, variabel Luas Daratan (rentang hingga 17 juta) akan mendominasi 99% jarak dibanding Growth Rate (rentang 0.91 - 1.07).
• Verifikasi Statistik Pasca StandardScaler():
  - Rata-rata (Mean): [0.00, 0.00, 0.00, 0.00] (Tepat di titik pusat nol).
  - Simpangan Baku (Std): [1.00, 1.00, 1.00, 1.00] (Skala variansi seragam).
• Hasil: Seluruh 4 dimensi kini menyumbangkan bobot adil dan setara 1:1 dalam perhitungan jarak antar negara.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8463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Arial"/>
              </a:rPr>
              <a:t>🖼️ Gambar 6: Boxplot Fitur Terstandarisasi</a:t>
            </a:r>
          </a:p>
        </p:txBody>
      </p:sp>
      <p:pic>
        <p:nvPicPr>
          <p:cNvPr id="9" name="Picture 8" descr="eda_standardized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18785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SKEMA SERTIFIKASI ASSOCIATE DATA SCIENTIST • SKKNI NO. 299 TAHUN 2020</a:t>
            </a:r>
          </a:p>
          <a:p>
            <a:r>
              <a:rPr sz="2200" b="1">
                <a:solidFill>
                  <a:srgbClr val="F8FAFC"/>
                </a:solidFill>
                <a:latin typeface="Arial"/>
              </a:rPr>
              <a:t>Penentuan Nilai Optimal K=4: Dual-Metric Validation (Unit 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7548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Arial"/>
              </a:rPr>
              <a:t>🎯 Justifikasi Pengambilan Keputusan K=4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94A3B8"/>
                </a:solidFill>
                <a:latin typeface="Arial"/>
              </a:rPr>
              <a:t>• Dual-Metric Validation:
  1. Elbow Method (Inersia WCSS): Penurunan inersia melandai tajam setelah K=4 (&gt;60% drop dari K=1). Titik infleksi siku paling tegas.
  2. Silhouette Analysis: K=4 meraih skor tertinggi 0.3138, mengungguli K=3 (0.3117).
• Perbandingan Terhadap Kandidat Lain:
  - K=2: Terlalu kasar, hanya membelah negara kecil vs besar.
  - K=3: Under-fitting; negara padat dan negara luas masih bercampur dalam 1 kelompok.
  - K=5 &amp; K=6: Over-segmentasi; skor Silhouette merosot ke 0.2830 dan 0.2887 (klaster terpecah tanpa batas bisnis yang jelas).
• Kesimpulan: K=4 adalah representasi matematis dan demografis paling sempurna!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8463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Arial"/>
              </a:rPr>
              <a:t>🖼️ Gambar 9: Panel Gabungan Evaluasi K</a:t>
            </a:r>
          </a:p>
        </p:txBody>
      </p:sp>
      <p:pic>
        <p:nvPicPr>
          <p:cNvPr id="9" name="Picture 8" descr="model_evaluasi_k_opti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17186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SKEMA SERTIFIKASI ASSOCIATE DATA SCIENTIST • SKKNI NO. 299 TAHUN 2020</a:t>
            </a:r>
          </a:p>
          <a:p>
            <a:r>
              <a:rPr sz="2200" b="1">
                <a:solidFill>
                  <a:srgbClr val="F8FAFC"/>
                </a:solidFill>
                <a:latin typeface="Arial"/>
              </a:rPr>
              <a:t>Pelatihan Model K-Means++ &amp; Ekstraksi Centroid (Unit 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7548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Arial"/>
              </a:rPr>
              <a:t>⚙️ Konfigurasi &amp; Serialisasi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94A3B8"/>
                </a:solidFill>
                <a:latin typeface="Arial"/>
              </a:rPr>
              <a:t>• Spesifikasi Algoritma:
  - Inisialisasi: 'k-means++' (memilih titik awal terjauh secara probabilistik untuk mencegah jebakan lokal).
  - Parameter: n_clusters=4, n_init=10, max_iter=300, random_state=42.
  - Konvergensi: Selesai stabil dalam beberapa iterasi dengan inersia akhir 362.24.
• Ekstraksi Koordinat Titik Pusat Massa (Centroid):
  - Centroid Z-Score dihitung untuk melihat profil deviasi relatif terhadap rata-rata global.
  - Dilakukan invers transformasi (scaler.inverse_transform &amp; expm1) untuk mengembalikan titik pusat ke unit fisik asli (jiwa, km², jiwa/km²).
• Serialisasi Artefak Produksi (Joblib):
  - output/model_kmeans.pkl (Model K-Means K=4 biner).
  - output/scaler.pkl (Pipeline StandardScaler).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8463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Arial"/>
              </a:rPr>
              <a:t>🖼️ Gambar 8: Heatmap Titik Centroid</a:t>
            </a:r>
          </a:p>
        </p:txBody>
      </p:sp>
      <p:pic>
        <p:nvPicPr>
          <p:cNvPr id="9" name="Picture 8" descr="model_centroi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2509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SKEMA SERTIFIKASI ASSOCIATE DATA SCIENTIST • SKKNI NO. 299 TAHUN 2020</a:t>
            </a:r>
          </a:p>
          <a:p>
            <a:r>
              <a:rPr sz="2200" b="1">
                <a:solidFill>
                  <a:srgbClr val="F8FAFC"/>
                </a:solidFill>
                <a:latin typeface="Arial"/>
              </a:rPr>
              <a:t>Taksonomi 4 Profil Demografi Global (Unit 9)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BBF24"/>
                </a:solidFill>
                <a:latin typeface="Arial"/>
              </a:rPr>
              <a:t>Klaster 0: Negara Berkembang Tumbuh Pesat</a:t>
            </a:r>
          </a:p>
          <a:p>
            <a:r>
              <a:rPr sz="950" b="1">
                <a:solidFill>
                  <a:srgbClr val="F8FAFC"/>
                </a:solidFill>
                <a:latin typeface="Arial"/>
              </a:rPr>
              <a:t>54 Negara (23.08% negara / 24.07% populasi)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481328"/>
            <a:ext cx="6035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94A3B8"/>
                </a:solidFill>
                <a:latin typeface="Arial"/>
              </a:rPr>
              <a:t>Dominasi: Afrika Sub-Sahara &amp; Asia Selatan (Nigeria, Ethiopia, Pakistan, Mesir).
Ciri: Laju pertumbuhan tertinggi di dunia (+2.16% per tahun), populasi muda melimpah, tantangan ketahanan pangan.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698480" cy="109728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15768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8BDF8"/>
                </a:solidFill>
                <a:latin typeface="Arial"/>
              </a:rPr>
              <a:t>Klaster 1: Negara-Kota Mikro &amp; Kepulauan Padat</a:t>
            </a:r>
          </a:p>
          <a:p>
            <a:r>
              <a:rPr sz="950" b="1">
                <a:solidFill>
                  <a:srgbClr val="F8FAFC"/>
                </a:solidFill>
                <a:latin typeface="Arial"/>
              </a:rPr>
              <a:t>64 Negara (27.35% negara / 0.35% populasi)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715768"/>
            <a:ext cx="6035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94A3B8"/>
                </a:solidFill>
                <a:latin typeface="Arial"/>
              </a:rPr>
              <a:t>Dominasi: Teritori pulau &amp; kota dagang (Singapura, Hong Kong, Monako, Bahrain).
Ciri: Luas fisik sangat mini (med 434 km²), kepadatan hunian masif (med 522 jiwa/km²), risiko kelangkaan lahan.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698480" cy="109728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399"/>
                </a:solidFill>
                <a:latin typeface="Arial"/>
              </a:rPr>
              <a:t>Klaster 2: Negara Megapopulasi Mapan</a:t>
            </a:r>
          </a:p>
          <a:p>
            <a:r>
              <a:rPr sz="950" b="1">
                <a:solidFill>
                  <a:srgbClr val="F8FAFC"/>
                </a:solidFill>
                <a:latin typeface="Arial"/>
              </a:rPr>
              <a:t>71 Negara (30.34% negara / 68.70% populasi)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950208"/>
            <a:ext cx="6035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94A3B8"/>
                </a:solidFill>
                <a:latin typeface="Arial"/>
              </a:rPr>
              <a:t>Dominasi: Pusat gravitasi dunia (China, India, AS, Indonesia, Brasil, Bangladesh, Jepang).
Ciri: Skala populasi masif (rata-rata 77 juta jiwa), kontributor 68.7% warga bumi, laju pertumbuhan stabil/melambat.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74920"/>
            <a:ext cx="10698480" cy="109728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84648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0A5FA"/>
                </a:solidFill>
                <a:latin typeface="Arial"/>
              </a:rPr>
              <a:t>Klaster 3: Negara Teritorial Luas &amp; Renggang</a:t>
            </a:r>
          </a:p>
          <a:p>
            <a:r>
              <a:rPr sz="950" b="1">
                <a:solidFill>
                  <a:srgbClr val="F8FAFC"/>
                </a:solidFill>
                <a:latin typeface="Arial"/>
              </a:rPr>
              <a:t>45 Negara (19.23% negara / 6.89% populasi)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5184648"/>
            <a:ext cx="6035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94A3B8"/>
                </a:solidFill>
                <a:latin typeface="Arial"/>
              </a:rPr>
              <a:t>Dominasi: Raksasa kontinental (Rusia, Kanada, Australia, Argentina, Kazakhstan).
Ciri: Luas daratan sangat luas (med 756 ribu km²), konsentrasi populasi sangat renggang (med 17 jiwa/km²).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SKEMA SERTIFIKASI ASSOCIATE DATA SCIENTIST • SKKNI NO. 299 TAHUN 2020</a:t>
            </a:r>
          </a:p>
          <a:p>
            <a:r>
              <a:rPr sz="2200" b="1">
                <a:solidFill>
                  <a:srgbClr val="F8FAFC"/>
                </a:solidFill>
                <a:latin typeface="Arial"/>
              </a:rPr>
              <a:t>Deployment Web Dashboard &amp; Simulator Interaktif (GitHub Pages)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7548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Arial"/>
              </a:rPr>
              <a:t>💻 Arsitektur &amp; Fitur Aplikasi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94A3B8"/>
                </a:solidFill>
                <a:latin typeface="Arial"/>
              </a:rPr>
              <a:t>• URL Publik: https://10040818.github.io/ukk/
• 5 Komponen Utama Dashboard:
  1. Stat Cards Ringkasan Kunci: 234 negara, 7.97M penduduk, K=4, reduksi skewness 93%, 15 HD art.
  2. Chart.js Dinamis: Donut, Stacked Bar Benua, Radar Centroid, dan Scatter Plot PCA 2D.
  3. Simulator Cerdas Real-Time: Autocomplete 234 negara, validasi batas logis numerik instan, dan error warnings.
  4. Tabel Interaktif 234 Negara: Live search, filter benua, sorting, pagination, &amp; ekspor CSV.
  5. Bank Soal 32 Q&amp;A: Panduan tanya jawab asesmen komprehensif mencakup 9 unit SKKNI.
• Full Responsif: Menyesuaikan tampilan di smartphone, tablet, laptop, dan proyektor sidang.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8463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Arial"/>
              </a:rPr>
              <a:t>🖼️ Live Dashboard Antarmuka Web</a:t>
            </a:r>
          </a:p>
        </p:txBody>
      </p:sp>
      <p:pic>
        <p:nvPicPr>
          <p:cNvPr id="9" name="Picture 8" descr="edge_shot_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3028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SKEMA SERTIFIKASI ASSOCIATE DATA SCIENTIST • SKKNI NO. 299 TAHUN 2020</a:t>
            </a:r>
          </a:p>
          <a:p>
            <a:r>
              <a:rPr sz="2200" b="1">
                <a:solidFill>
                  <a:srgbClr val="F8FAFC"/>
                </a:solidFill>
                <a:latin typeface="Arial"/>
              </a:rPr>
              <a:t>Rekomendasi Kebijakan Multilateral &amp; Penutup Sidang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75488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Arial"/>
              </a:rPr>
              <a:t>🏛️ Rekomendasi Kebijakan Berbasis Bukti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94A3B8"/>
                </a:solidFill>
                <a:latin typeface="Arial"/>
              </a:rPr>
              <a:t>• Klaster 0 (Tumbuh Pesat):
  Prioritas penyaluran bantuan ketahanan pangan, fasilitas KB modern, serta investasi masif pada pendidikan vokasi dan penciptaan lapangan kerja muda.
• Klaster 1 (Mikro Padat):
  Regulasi tata ruang vertikal yang ketat, investasi teknologi desalinasi air laut, dan diplomasi ketahanan pangan rantai pasok impor.
• Klaster 2 (Megapopulasi Mapan):
  Stabilitas rantai pasok manufaktur global, transisi energi hijau terbarukan, dan adaptasi jaminan sosial penduduk lansia.
• Klaster 3 (Luas Renggang):
  Alokasi anggaran pada infrastruktur konektivitas logistik rel/udara, telekomunikasi satelit, dan hilirisasi tambang/pertanian.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8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8463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Arial"/>
              </a:rPr>
              <a:t>🎓 Pernyataan Kompetensi Asesi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F8FAFC"/>
                </a:solidFill>
                <a:latin typeface="Arial"/>
              </a:rPr>
              <a:t>Seluruh 9 Unit Kompetensi Inti pada Skema Sertifikasi Okupasi Associate Data Scientist (SKKNI No. 299 Tahun 2020) telah dipenuhi 100% secara utuh, teruji, dan terdokumentasi rapi.
✅ Laporan Ilmiah Lengkap (24 Halaman PDF &amp; Word)
✅ Dokumen Bukti Portofolio Repositori GitHub &amp; EDA (14 Halaman PDF)
✅ Script Jupyter Notebook Terstruktur (analisis_kmeans.ipynb)
✅ Model Machine Learning Biner &amp; Pipeline (.pkl)
✅ Live Interactive Web Simulator (GitHub Pages)
Terima kasih kepada Dewan Asesor &amp; Penguji.
Sesi Demonstrasi &amp; Tanya Jawab Dibuka.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